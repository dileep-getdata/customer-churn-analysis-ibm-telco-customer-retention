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lus Jakarta Sans"/>
      <p:regular r:id="rId22"/>
      <p:bold r:id="rId23"/>
      <p:italic r:id="rId24"/>
      <p:boldItalic r:id="rId25"/>
    </p:embeddedFont>
    <p:embeddedFont>
      <p:font typeface="Plus Jakarta Sans SemiBold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DB13A-AFE3-4509-B10F-61641D55D376}">
  <a:tblStyle styleId="{15BDB13A-AFE3-4509-B10F-61641D55D3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regular.fntdata"/><Relationship Id="rId21" Type="http://schemas.openxmlformats.org/officeDocument/2006/relationships/slide" Target="slides/slide15.xml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PlusJakartaSansSemiBold-italic.fntdata"/><Relationship Id="rId27" Type="http://schemas.openxmlformats.org/officeDocument/2006/relationships/font" Target="fonts/PlusJakartaSa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3" Type="http://schemas.openxmlformats.org/officeDocument/2006/relationships/image" Target="../media/image15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0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57.png"/><Relationship Id="rId6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55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1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50.png"/><Relationship Id="rId6" Type="http://schemas.openxmlformats.org/officeDocument/2006/relationships/image" Target="../media/image36.png"/><Relationship Id="rId7" Type="http://schemas.openxmlformats.org/officeDocument/2006/relationships/image" Target="../media/image58.png"/><Relationship Id="rId8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46.png"/><Relationship Id="rId7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hyperlink" Target="https://github.com/Dileep-getdata/Customer-Churn-Analysis-IBM-Telco-Customer-Retention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6.png"/><Relationship Id="rId9" Type="http://schemas.openxmlformats.org/officeDocument/2006/relationships/image" Target="../media/image63.png"/><Relationship Id="rId5" Type="http://schemas.openxmlformats.org/officeDocument/2006/relationships/image" Target="../media/image49.png"/><Relationship Id="rId6" Type="http://schemas.openxmlformats.org/officeDocument/2006/relationships/image" Target="../media/image60.png"/><Relationship Id="rId7" Type="http://schemas.openxmlformats.org/officeDocument/2006/relationships/hyperlink" Target="https://www.linkedin.com/in/dileep-t-34704625b/" TargetMode="External"/><Relationship Id="rId8" Type="http://schemas.openxmlformats.org/officeDocument/2006/relationships/hyperlink" Target="https://www.linkedin.com/in/dileep-t-34704625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99508"/>
            <a:ext cx="83629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10642"/>
            <a:ext cx="2855714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2248792"/>
            <a:ext cx="6724121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Customer Churn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046958"/>
            <a:ext cx="836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Predicting Customer Retention &amp; Reducing Revenue Risk Using Data Analytics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23233"/>
            <a:ext cx="914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09725" y="3723233"/>
            <a:ext cx="7334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3723233"/>
            <a:ext cx="7810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52800" y="3723233"/>
            <a:ext cx="10477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950" y="38375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71650" y="38375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19375" y="3837533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14725" y="3837533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581025" y="4599533"/>
            <a:ext cx="3228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Dataset: IBM Telco Customer Churn (Kaggle)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81025" y="4847183"/>
            <a:ext cx="3228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Presented by </a:t>
            </a: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Dileep Thiriveedhi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81025" y="1990725"/>
            <a:ext cx="5324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dataset originates from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IBM Sample Data Sets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contains demographic, subscription, billing, and retention details for telecom customers.</a:t>
            </a:r>
            <a:endParaRPr/>
          </a:p>
        </p:txBody>
      </p:sp>
      <p:graphicFrame>
        <p:nvGraphicFramePr>
          <p:cNvPr id="105" name="Google Shape;105;p14"/>
          <p:cNvGraphicFramePr/>
          <p:nvPr/>
        </p:nvGraphicFramePr>
        <p:xfrm>
          <a:off x="581025" y="2867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{15BDB13A-AFE3-4509-B10F-61641D55D376}</a:tableStyleId>
              </a:tblPr>
              <a:tblGrid>
                <a:gridCol w="2778175"/>
                <a:gridCol w="2527250"/>
              </a:tblGrid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Value / Detail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7,043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21 Variables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Target 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Churn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Churn Classes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Yes / 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244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590550" y="3409950"/>
            <a:ext cx="2778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3368724" y="3409950"/>
            <a:ext cx="252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90550" y="3952875"/>
            <a:ext cx="2778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368724" y="3952875"/>
            <a:ext cx="252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90550" y="4495800"/>
            <a:ext cx="2778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368724" y="4495800"/>
            <a:ext cx="252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90550" y="5038725"/>
            <a:ext cx="27781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3368724" y="5038725"/>
            <a:ext cx="252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5324475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76500"/>
            <a:ext cx="5324475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95350" y="32670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95350" y="3648075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churn directly reduces recurring revenue and hinders long-term business growth.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95350" y="4219575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Acquiring a new customer costs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5x to 7x more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than retaining an existing customer in telecom markets.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00825" y="32670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Objectives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00825" y="3648075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Identify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customers with high risk of churn.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00825" y="3952875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Discover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key drivers influencing cancellation.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00825" y="4257675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customer behavioral trends.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00825" y="4562475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Recommend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proactive retention strategies.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28384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28384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Problem &amp;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29075"/>
            <a:ext cx="2426493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2124075"/>
            <a:ext cx="2426493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4029075"/>
            <a:ext cx="2426493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4332" y="1857375"/>
            <a:ext cx="2426493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1708546" y="37052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76316" y="37052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444085" y="37052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311854" y="37052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81025" y="3771900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710386" y="4210050"/>
            <a:ext cx="21677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Pipeline Setup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62000" y="4591050"/>
            <a:ext cx="206454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problem formulation, Kaggle data ingestion &amp; Pandas ETL pipeline setup.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3578155" y="2305050"/>
            <a:ext cx="21677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Data Preparation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3629769" y="2686050"/>
            <a:ext cx="20645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Cleaning missing values, type conversion, and feature engineering tenure groups.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45924" y="4210050"/>
            <a:ext cx="21677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Analysis &amp; SQL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97538" y="4591050"/>
            <a:ext cx="206454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data analysis (EDA) and querying customer segments with SQL.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313693" y="2038350"/>
            <a:ext cx="216777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Dashboard &amp; Actions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365307" y="2686050"/>
            <a:ext cx="20645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interactive Power BI dashboard &amp; distilling strategic retention insights.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Analytics Workflow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8425"/>
            <a:ext cx="35242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38425"/>
            <a:ext cx="35242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638425"/>
            <a:ext cx="35242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146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857250" y="3600450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57250" y="398145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&amp; NumPy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used for data cleaning, type conversion, missing value handling, and ETL execution.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9146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610100" y="3600450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&amp; Excel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610100" y="398145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Querying business metrics, executing aggregations, pivot table validation, and segment analysis.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29146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8362950" y="3600450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 BI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362950" y="398145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executive DAX measures, interactive filters, KPI visual cards, and retention dashboards.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62" y="303847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8212" y="303847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2487" y="303847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24125"/>
            <a:ext cx="532447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24125"/>
            <a:ext cx="5324475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895350" y="2838450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9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ETL &amp; Data Cleaning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95350" y="32194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Imported 7,043 raw customer records using Pandas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95350" y="35242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Converted TotalCharges from string object to float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95350" y="38290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Removed 11 blank spaces / missing charge entries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95350" y="41338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Deduplicated records and standardized categories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600825" y="2838450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9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Engineering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600825" y="3219450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Tenure Groups: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Created cohorts (1M, 2M, 3M, 47+M) to isolate early churn risk.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600825" y="3752850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Revenue Metrics: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Derived Average Monthly Spend per customer segment.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00825" y="4286250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Segmentation: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Grouped by payment method and senior citizen status.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2867025"/>
            <a:ext cx="23395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2867025"/>
            <a:ext cx="23395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Cleaning &amp; Feature Engineering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00362"/>
            <a:ext cx="2614612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2900362"/>
            <a:ext cx="2614612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900362"/>
            <a:ext cx="2614612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900362"/>
            <a:ext cx="2614612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81025" y="4452937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 Over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in 4 telecom customers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discontinue service, highlighting an immediate opportunity to capture lost annual recurring revenue.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19150" y="3138487"/>
            <a:ext cx="21383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7,043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19150" y="3748087"/>
            <a:ext cx="21383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Total Customers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3624262" y="3138487"/>
            <a:ext cx="21383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26.58%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3624262" y="3748087"/>
            <a:ext cx="21383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Churn Rate (1,869)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429375" y="3138487"/>
            <a:ext cx="21383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2C55E"/>
                </a:solidFill>
                <a:latin typeface="Space Grotesk"/>
                <a:ea typeface="Space Grotesk"/>
                <a:cs typeface="Space Grotesk"/>
                <a:sym typeface="Space Grotesk"/>
              </a:rPr>
              <a:t>5,174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429375" y="3748087"/>
            <a:ext cx="21383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Retained Customers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9234487" y="3138487"/>
            <a:ext cx="21383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$16.05M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234487" y="3748087"/>
            <a:ext cx="21383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Total Revenue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KPI Highlights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81025" y="2362200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Gender Distribution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81025" y="274320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dataset exhibits an almost equal split between male and female subscribers: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286500" y="2362200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Senior Citizen Matrix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286500" y="4524375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Observation: Gender is balanced and is not a primary statistically significant driver for churn.</a:t>
            </a:r>
            <a:endParaRPr/>
          </a:p>
        </p:txBody>
      </p:sp>
      <p:graphicFrame>
        <p:nvGraphicFramePr>
          <p:cNvPr id="225" name="Google Shape;225;p20"/>
          <p:cNvGraphicFramePr/>
          <p:nvPr/>
        </p:nvGraphicFramePr>
        <p:xfrm>
          <a:off x="581025" y="3390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{15BDB13A-AFE3-4509-B10F-61641D55D376}</a:tableStyleId>
              </a:tblPr>
              <a:tblGrid>
                <a:gridCol w="1793075"/>
                <a:gridCol w="1608225"/>
                <a:gridCol w="190410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Share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3,555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50.48%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3,488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49.52%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0"/>
          <p:cNvGraphicFramePr/>
          <p:nvPr/>
        </p:nvGraphicFramePr>
        <p:xfrm>
          <a:off x="6286500" y="274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{15BDB13A-AFE3-4509-B10F-61641D55D376}</a:tableStyleId>
              </a:tblPr>
              <a:tblGrid>
                <a:gridCol w="2719525"/>
                <a:gridCol w="1188850"/>
                <a:gridCol w="139705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Senior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Non-Senior (No)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2,981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2,920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Senior Citizen (Yes)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56247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590550" y="3933825"/>
            <a:ext cx="17930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383631" y="3933825"/>
            <a:ext cx="16082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991867" y="3933825"/>
            <a:ext cx="19041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90550" y="4476750"/>
            <a:ext cx="17930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383631" y="4476750"/>
            <a:ext cx="16082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991867" y="4476750"/>
            <a:ext cx="19041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296025" y="3286125"/>
            <a:ext cx="27195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015561" y="3286125"/>
            <a:ext cx="11888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0204400" y="3286125"/>
            <a:ext cx="13970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296025" y="3829050"/>
            <a:ext cx="27195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015561" y="3829050"/>
            <a:ext cx="11888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0204400" y="3829050"/>
            <a:ext cx="13970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Demographics &amp; Churn Breakdown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09675"/>
            <a:ext cx="1102995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581025" y="4733925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 Insight: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60% of early cancellations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occur within the first month. Customers who pass the initial 90-day threshold show significantly higher long-term retention.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Customer Lifecycle &amp; Churn Peak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76550"/>
            <a:ext cx="532447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76550"/>
            <a:ext cx="532447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6524625" y="3114675"/>
            <a:ext cx="50906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0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 Finding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524625" y="3495675"/>
            <a:ext cx="4848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Electronic Check customers account for the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largest share of total churn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(1,071 users).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524625" y="4067175"/>
            <a:ext cx="4848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points toward potential pain points in manual payment processing, billing friction, or lack of auto-pay incentives.</a:t>
            </a:r>
            <a:endParaRPr/>
          </a:p>
        </p:txBody>
      </p:sp>
      <p:pic>
        <p:nvPicPr>
          <p:cNvPr descr="image.png" id="259" name="Google Shape;2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143250"/>
            <a:ext cx="23395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Payment Method Risk Profile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581025" y="485775"/>
            <a:ext cx="554069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Power BI Dashboard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81025" y="1209675"/>
            <a:ext cx="5276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interactive executive dashboard built in Power BI to monitor customer health metrics and retention trends in real time.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923925" y="1819275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KPI Cards: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Instant visibility into ARR and churn rates.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923925" y="2219325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Slicers: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 by contract type, tenure cohort, and payment method.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923925" y="2847975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Segmentation: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Demographic drill-downs.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33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36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622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3425" y="218475"/>
            <a:ext cx="5788676" cy="286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3425" y="3326850"/>
            <a:ext cx="5788674" cy="324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250" y="3326850"/>
            <a:ext cx="5791600" cy="32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5050"/>
            <a:ext cx="54197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305050"/>
            <a:ext cx="54197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86200"/>
            <a:ext cx="54197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886200"/>
            <a:ext cx="5419725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857250" y="2581275"/>
            <a:ext cx="51106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Early Retention Risk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57250" y="2962275"/>
            <a:ext cx="4867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highest churn concentration occurs within the customer's first 90 days of subscription.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467475" y="2581275"/>
            <a:ext cx="51106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High-Risk Payment Method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467475" y="2962275"/>
            <a:ext cx="4867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Electronic Check users represent the most vulnerable customer segment for churn.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57250" y="4162425"/>
            <a:ext cx="51106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Demographic Neutrality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857250" y="4543425"/>
            <a:ext cx="4867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distribution is balanced and does not impact churn, shifting focus to service factors.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467475" y="4162425"/>
            <a:ext cx="51106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Onboarding Window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6467475" y="4543425"/>
            <a:ext cx="4867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Protecting customers during initial onboarding offers the highest ROI for retention efforts.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Business Insights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923925" y="2790825"/>
            <a:ext cx="1068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Enhance First 90-Day Onboarding: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Deploy dedicated guidance and customer support touchpoints during the critical first three months.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923925" y="3190875"/>
            <a:ext cx="1068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 Auto-Pay Adoption: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Offer small bill discounts or rewards for switching from Electronic Check to automated credit card / ACH payments.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923925" y="3590925"/>
            <a:ext cx="1068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Retention Campaigns: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Focus promotional offers on new subscribers showing low initial feature usage.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923925" y="3990975"/>
            <a:ext cx="1068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Long-term Loyalty Programs: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Reward customers reaching tenure milestones to safeguard lifetime value.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923925" y="4391025"/>
            <a:ext cx="1068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Analytics Integration: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Deploy machine learning classification models to flag high-risk accounts prior to cancellation.</a:t>
            </a:r>
            <a:endParaRPr/>
          </a:p>
        </p:txBody>
      </p:sp>
      <p:pic>
        <p:nvPicPr>
          <p:cNvPr descr="image.png" id="305" name="Google Shape;3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051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05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05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4053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Action Plan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14625"/>
            <a:ext cx="532447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14625"/>
            <a:ext cx="5324475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895350" y="3028950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0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Achievements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895350" y="34099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Engineered clean ETL pipeline from raw Kaggle dataset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95350" y="37147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Analyzed multi-variable demographic and service data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895350" y="40195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Developed executive KPIs and interactive Power BI report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895350" y="43243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Identified primary churn drivers across payment &amp; tenure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6600825" y="3028950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Impact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6600825" y="34099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Enables data-driven proactive retention strategies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6600825" y="37147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Reduces early subscriber drop-off by targeting onboarding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6600825" y="40195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Mitigates revenue loss from high-risk payment segments</a:t>
            </a:r>
            <a:endParaRPr/>
          </a:p>
        </p:txBody>
      </p:sp>
      <p:pic>
        <p:nvPicPr>
          <p:cNvPr descr="image.png" id="327" name="Google Shape;32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3057525"/>
            <a:ext cx="23395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3057525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 &amp; Impact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3275" y="2238375"/>
            <a:ext cx="550545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 txBox="1"/>
          <p:nvPr/>
        </p:nvSpPr>
        <p:spPr>
          <a:xfrm>
            <a:off x="305276" y="485775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 &amp; Discussion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581025" y="15144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time and attention!</a:t>
            </a:r>
            <a:endParaRPr/>
          </a:p>
        </p:txBody>
      </p:sp>
      <p:pic>
        <p:nvPicPr>
          <p:cNvPr descr="image.png" id="338" name="Google Shape;33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800" y="25003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3981450" y="2476500"/>
            <a:ext cx="1295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Dileep Thiriveedhi</a:t>
            </a:r>
            <a:endParaRPr/>
          </a:p>
        </p:txBody>
      </p:sp>
      <p:pic>
        <p:nvPicPr>
          <p:cNvPr descr="image.png" id="340" name="Google Shape;34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2600" y="25003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>
            <a:hlinkClick r:id="rId7"/>
          </p:cNvPr>
          <p:cNvSpPr txBox="1"/>
          <p:nvPr/>
        </p:nvSpPr>
        <p:spPr>
          <a:xfrm>
            <a:off x="5810250" y="2476500"/>
            <a:ext cx="6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cap="none" strike="noStrike">
                <a:solidFill>
                  <a:schemeClr val="lt1"/>
                </a:solidFill>
                <a:uFill>
                  <a:noFill/>
                </a:uFill>
                <a:latin typeface="Plus Jakarta Sans"/>
                <a:ea typeface="Plus Jakarta Sans"/>
                <a:cs typeface="Plus Jakarta Sans"/>
                <a:sym typeface="Plus Jakarta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342" name="Google Shape;34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15125" y="25003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7"/>
          <p:cNvSpPr txBox="1"/>
          <p:nvPr/>
        </p:nvSpPr>
        <p:spPr>
          <a:xfrm>
            <a:off x="6981825" y="2476500"/>
            <a:ext cx="52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cap="none" strike="noStrike">
                <a:solidFill>
                  <a:schemeClr val="lt1"/>
                </a:solidFill>
                <a:uFill>
                  <a:noFill/>
                </a:uFill>
                <a:latin typeface="Plus Jakarta Sans"/>
                <a:ea typeface="Plus Jakarta Sans"/>
                <a:cs typeface="Plus Jakarta Sans"/>
                <a:sym typeface="Plus Jakarta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344" name="Google Shape;34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91450" y="25003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/>
          <p:nvPr/>
        </p:nvSpPr>
        <p:spPr>
          <a:xfrm>
            <a:off x="8058150" y="2476500"/>
            <a:ext cx="40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